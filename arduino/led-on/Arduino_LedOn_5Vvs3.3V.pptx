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24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DCDB-D8A3-DDB3-A907-7F6023B6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291C1-9E2D-A83C-232F-62062280E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316C-0F9E-FC12-4F95-A55EDBCF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22F8-15C8-DDD2-0DE1-A423026F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AF2F7-178F-0000-9F0B-369324F1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8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78AE-A5B6-C77F-A0CA-8DF87981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CD149-7C79-5658-875C-1DFF2988C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84609-9454-AB48-CA7D-32B8DCC8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36DA1-3C7E-867C-430F-749C1C9D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EDAEA-1B10-542C-1869-9029666A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7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B810-5A33-EA14-1F86-082C0B1F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A0EBE-E618-4F37-5C3F-ED7C21502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9CBB4-D64E-0FEC-D782-E8070C8D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5DEEB-D1CF-5DC6-4C1B-62809FFD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BB0AF-56E5-C540-A5C3-37B7716C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0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B0FF-9E81-5788-48D9-CD4B7633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67E9-9C6F-8EFE-E136-BA3E023B2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45DCC-6682-5BD8-B1E0-55925D816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0189-8696-F3FF-DD34-8F95BE6F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7F5CF-37FE-39EA-36C9-2799DB99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F9BF1-898A-CA5E-AD36-C43E47FC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7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A9E5-38DC-BE2E-3F6D-D3534CDF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25413-0A4C-3E6C-895F-42CBC82AE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DF6DF-6CDC-79E3-29E7-B5DA49F0F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0E3B49-5FFE-7C06-D534-2445AA597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130A0-F4EC-DECF-6646-A43BA0785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CED3F-DBC7-4747-7294-62EC16F0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2AC24-197F-A009-1C11-305EBA72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5C348-529F-0AEF-4F80-D1127FE6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8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71B2-3D0B-D72B-D3EA-2B5F0D7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53CA2-19E7-FC2F-7BF7-909F7F4A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54DD5-4081-8282-A60F-E5F6E0F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926D9-46EC-863E-1CE2-B0AAF835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9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7F9D6-3B18-70C3-6E11-5A818CB4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0F1DF-B89B-C9A8-FAE0-72691090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AE3BC-2ABB-7FF0-B8E5-EA28AFE0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6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D665-B004-FCD7-1476-52114728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D4997-8DFC-4041-0813-1786BB3D1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9272B-E888-C11C-CE6A-A842DD2E4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D42E3-74EB-E2DE-4C9B-F74C6E80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CA4B2-D7E8-997E-3ACF-573553E2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2DF3D-0CEB-39D6-32CC-EE0F9471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3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D937-544D-ACC1-6582-467F5FED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5110B-82E5-A90B-8C90-27D14C497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777EF-61C8-7F6D-27AB-7AC0BF3A5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791B2-ADFC-CDC6-43F4-CBDD31C9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43C4A-6DEB-0819-EDD3-01C30568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D9F8-9FFC-C02C-97A7-AF7E781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396-ACD5-C761-D43B-0C37568E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3B2FB-D81A-706C-A50E-7184C5CCF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1E024-1BDC-1CEB-AA7B-CE1FC9C3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C41CA-F59E-1183-4D72-9E79D2E9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D07FA-CF6A-A38E-424E-A3D011F2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69897-5002-CED9-6025-543511CCA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30D13-A30C-ABDC-02F9-1EBD4E5D3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FECD-2910-8492-1BB2-9CCB9CF5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AE16D-750B-F22F-73AA-3418FB7A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65016-7BD5-1330-1FB0-925C0280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1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6FFF3-FB39-371C-9431-CD73E34D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FDDCC-445E-D63E-D432-CFD16451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F0087-07B7-664F-719A-CFABCFBB8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AE41F-E47E-4828-80D5-639ABED48C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C15E-3A56-AC32-F97A-E56D4A95D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6F006-C424-C561-1C79-D66FBD4C8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D6416-5354-45CC-98D0-C49D95A09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73A581-8DE0-280F-3179-B801A11BE6AA}"/>
              </a:ext>
            </a:extLst>
          </p:cNvPr>
          <p:cNvSpPr txBox="1"/>
          <p:nvPr/>
        </p:nvSpPr>
        <p:spPr>
          <a:xfrm>
            <a:off x="591424" y="155196"/>
            <a:ext cx="2084664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Warning: I lost the source for this and it has an error!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34846-11BB-6AB9-542E-DE539A28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30950" y="411481"/>
            <a:ext cx="25259129" cy="813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5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C4E1CFFD-95AE-0425-918E-F2BF326CC41F}"/>
              </a:ext>
            </a:extLst>
          </p:cNvPr>
          <p:cNvSpPr/>
          <p:nvPr/>
        </p:nvSpPr>
        <p:spPr>
          <a:xfrm>
            <a:off x="-1572768" y="-311150"/>
            <a:ext cx="17501616" cy="753745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9E66F9F-84AF-2CF8-0A07-14A0598A60D1}"/>
              </a:ext>
            </a:extLst>
          </p:cNvPr>
          <p:cNvSpPr/>
          <p:nvPr/>
        </p:nvSpPr>
        <p:spPr>
          <a:xfrm>
            <a:off x="9458063" y="2321140"/>
            <a:ext cx="4127386" cy="2764313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3BF1D7D-BFDF-9F7A-B9F9-184A70B8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734" y="2502300"/>
            <a:ext cx="2432362" cy="2451899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6E3131B-2059-DC16-E695-356CF16C4AFB}"/>
              </a:ext>
            </a:extLst>
          </p:cNvPr>
          <p:cNvSpPr/>
          <p:nvPr/>
        </p:nvSpPr>
        <p:spPr>
          <a:xfrm>
            <a:off x="1476549" y="2294215"/>
            <a:ext cx="4077826" cy="2764313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28054-F676-3DBF-1421-C8577EF5A4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01"/>
          <a:stretch>
            <a:fillRect/>
          </a:stretch>
        </p:blipFill>
        <p:spPr>
          <a:xfrm>
            <a:off x="-1393448" y="2017478"/>
            <a:ext cx="2709345" cy="282304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6E3BC2-34FC-8086-537C-28CD02264664}"/>
              </a:ext>
            </a:extLst>
          </p:cNvPr>
          <p:cNvCxnSpPr>
            <a:cxnSpLocks/>
          </p:cNvCxnSpPr>
          <p:nvPr/>
        </p:nvCxnSpPr>
        <p:spPr>
          <a:xfrm flipV="1">
            <a:off x="-246913" y="2269989"/>
            <a:ext cx="150987" cy="64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6FABC5-2E9A-2EFB-EB19-B1411FEEF2A7}"/>
              </a:ext>
            </a:extLst>
          </p:cNvPr>
          <p:cNvSpPr txBox="1"/>
          <p:nvPr/>
        </p:nvSpPr>
        <p:spPr>
          <a:xfrm>
            <a:off x="-142701" y="2091561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LED anode leg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A702A0-7872-614D-AC5E-185EBD0EBA51}"/>
              </a:ext>
            </a:extLst>
          </p:cNvPr>
          <p:cNvSpPr/>
          <p:nvPr/>
        </p:nvSpPr>
        <p:spPr>
          <a:xfrm>
            <a:off x="-285013" y="2465036"/>
            <a:ext cx="8723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Condensed" panose="020B0606040200020203" pitchFamily="34" charset="0"/>
                <a:ea typeface="+mn-ea"/>
                <a:cs typeface="+mn-cs"/>
              </a:rPr>
              <a:t>R1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Condensed" panose="020B0606040200020203" pitchFamily="34" charset="0"/>
                <a:ea typeface="+mn-ea"/>
                <a:cs typeface="+mn-cs"/>
              </a:rPr>
              <a:t>=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Condensed" panose="020B0606040200020203" pitchFamily="34" charset="0"/>
                <a:ea typeface="+mn-ea"/>
                <a:cs typeface="+mn-cs"/>
              </a:rPr>
              <a:t>220Ω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A20B06-ABF3-28C7-B708-34AC9E684843}"/>
              </a:ext>
            </a:extLst>
          </p:cNvPr>
          <p:cNvCxnSpPr>
            <a:cxnSpLocks/>
          </p:cNvCxnSpPr>
          <p:nvPr/>
        </p:nvCxnSpPr>
        <p:spPr>
          <a:xfrm flipH="1" flipV="1">
            <a:off x="-285013" y="3203038"/>
            <a:ext cx="362550" cy="294861"/>
          </a:xfrm>
          <a:prstGeom prst="line">
            <a:avLst/>
          </a:prstGeom>
          <a:ln w="25400">
            <a:solidFill>
              <a:srgbClr val="FFC00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5D7746-C0B4-4228-A29A-C05E845FD32D}"/>
              </a:ext>
            </a:extLst>
          </p:cNvPr>
          <p:cNvSpPr/>
          <p:nvPr/>
        </p:nvSpPr>
        <p:spPr>
          <a:xfrm>
            <a:off x="-26375" y="3350468"/>
            <a:ext cx="444501" cy="377226"/>
          </a:xfrm>
          <a:prstGeom prst="roundRect">
            <a:avLst>
              <a:gd name="adj" fmla="val 7241"/>
            </a:avLst>
          </a:prstGeom>
          <a:solidFill>
            <a:srgbClr val="FFC000"/>
          </a:solidFill>
        </p:spPr>
        <p:txBody>
          <a:bodyPr wrap="square" tIns="54864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5V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382596-BB73-18E1-3579-F21FAD239683}"/>
              </a:ext>
            </a:extLst>
          </p:cNvPr>
          <p:cNvGrpSpPr/>
          <p:nvPr/>
        </p:nvGrpSpPr>
        <p:grpSpPr>
          <a:xfrm>
            <a:off x="6314852" y="1731257"/>
            <a:ext cx="3210248" cy="3288186"/>
            <a:chOff x="6315177" y="1731257"/>
            <a:chExt cx="3210248" cy="32881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F9C8DFF-125F-C436-199D-94CC27FAE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5606"/>
            <a:stretch>
              <a:fillRect/>
            </a:stretch>
          </p:blipFill>
          <p:spPr>
            <a:xfrm>
              <a:off x="6315177" y="1731257"/>
              <a:ext cx="2973572" cy="3288186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3513FF-2E7D-0A92-CE0A-790D1AE7C9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1963" y="2294215"/>
              <a:ext cx="150987" cy="64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3DF6DF-8994-25EA-128F-4989B07978F1}"/>
                </a:ext>
              </a:extLst>
            </p:cNvPr>
            <p:cNvSpPr txBox="1"/>
            <p:nvPr/>
          </p:nvSpPr>
          <p:spPr>
            <a:xfrm>
              <a:off x="7906175" y="2115787"/>
              <a:ext cx="1619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Condensed" panose="020B0606040200020203" pitchFamily="34" charset="0"/>
                </a:rPr>
                <a:t>LED anode leg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799B59-48EB-5A77-A5B4-3C1CACFBFB56}"/>
                </a:ext>
              </a:extLst>
            </p:cNvPr>
            <p:cNvSpPr/>
            <p:nvPr/>
          </p:nvSpPr>
          <p:spPr>
            <a:xfrm>
              <a:off x="7763863" y="2489262"/>
              <a:ext cx="8723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Condensed" panose="020B0606040200020203" pitchFamily="34" charset="0"/>
                  <a:ea typeface="+mn-ea"/>
                  <a:cs typeface="+mn-cs"/>
                </a:rPr>
                <a:t>R1 </a:t>
              </a: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Condensed" panose="020B0606040200020203" pitchFamily="34" charset="0"/>
                  <a:ea typeface="+mn-ea"/>
                  <a:cs typeface="+mn-cs"/>
                </a:rPr>
                <a:t>=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Condensed" panose="020B0606040200020203" pitchFamily="34" charset="0"/>
                  <a:ea typeface="+mn-ea"/>
                  <a:cs typeface="+mn-cs"/>
                </a:rPr>
                <a:t>220Ω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A4AF6B-C81F-819E-2701-DCC5B923AE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9964" y="3214787"/>
              <a:ext cx="362550" cy="294861"/>
            </a:xfrm>
            <a:prstGeom prst="line">
              <a:avLst/>
            </a:prstGeom>
            <a:ln w="25400">
              <a:solidFill>
                <a:srgbClr val="FFC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1E874A8-63AB-4E51-3282-CDD872C541CD}"/>
                </a:ext>
              </a:extLst>
            </p:cNvPr>
            <p:cNvSpPr/>
            <p:nvPr/>
          </p:nvSpPr>
          <p:spPr>
            <a:xfrm>
              <a:off x="8018602" y="3362217"/>
              <a:ext cx="617616" cy="377226"/>
            </a:xfrm>
            <a:prstGeom prst="roundRect">
              <a:avLst>
                <a:gd name="adj" fmla="val 7241"/>
              </a:avLst>
            </a:prstGeom>
            <a:solidFill>
              <a:srgbClr val="FFC000"/>
            </a:solidFill>
          </p:spPr>
          <p:txBody>
            <a:bodyPr wrap="square" tIns="54864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Bebas Neue" panose="020B0606020202050201" pitchFamily="34" charset="0"/>
                  <a:ea typeface="+mn-ea"/>
                  <a:cs typeface="+mn-cs"/>
                </a:rPr>
                <a:t>3.3v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6843380-76D1-E1FE-DC8C-B9DF1A460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58" y="2399338"/>
            <a:ext cx="2367380" cy="2645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C91F6D-E3A2-6D05-7231-4B9BA734AC60}"/>
                  </a:ext>
                </a:extLst>
              </p:cNvPr>
              <p:cNvSpPr txBox="1"/>
              <p:nvPr/>
            </p:nvSpPr>
            <p:spPr>
              <a:xfrm>
                <a:off x="1476549" y="5180280"/>
                <a:ext cx="4250394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𝐼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→ 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220 </m:t>
                        </m:r>
                        <m:r>
                          <m:rPr>
                            <m:sty m:val="p"/>
                          </m:rPr>
                          <a:rPr kumimoji="0" lang="el-G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13.6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𝑚𝐴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C91F6D-E3A2-6D05-7231-4B9BA734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549" y="5180280"/>
                <a:ext cx="4250394" cy="612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39BA0C-2F3D-ED83-448D-2676A39D0099}"/>
                  </a:ext>
                </a:extLst>
              </p:cNvPr>
              <p:cNvSpPr txBox="1"/>
              <p:nvPr/>
            </p:nvSpPr>
            <p:spPr>
              <a:xfrm>
                <a:off x="4768065" y="3615677"/>
                <a:ext cx="69961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sub>
                      </m:sSub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39BA0C-2F3D-ED83-448D-2676A39D0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065" y="3615677"/>
                <a:ext cx="699615" cy="215444"/>
              </a:xfrm>
              <a:prstGeom prst="rect">
                <a:avLst/>
              </a:prstGeom>
              <a:blipFill>
                <a:blip r:embed="rId7"/>
                <a:stretch>
                  <a:fillRect l="-4348" r="-347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A4462678-B251-8CF0-95AE-EFF120529C9E}"/>
              </a:ext>
            </a:extLst>
          </p:cNvPr>
          <p:cNvGrpSpPr/>
          <p:nvPr/>
        </p:nvGrpSpPr>
        <p:grpSpPr>
          <a:xfrm>
            <a:off x="4520153" y="2391740"/>
            <a:ext cx="297083" cy="2639255"/>
            <a:chOff x="6542879" y="2391740"/>
            <a:chExt cx="297083" cy="2639255"/>
          </a:xfrm>
        </p:grpSpPr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3EB22A1B-2FF9-332C-A471-8B662714D6C1}"/>
                </a:ext>
              </a:extLst>
            </p:cNvPr>
            <p:cNvSpPr/>
            <p:nvPr/>
          </p:nvSpPr>
          <p:spPr>
            <a:xfrm>
              <a:off x="6647542" y="2616200"/>
              <a:ext cx="107812" cy="2224322"/>
            </a:xfrm>
            <a:prstGeom prst="rightBrace">
              <a:avLst>
                <a:gd name="adj1" fmla="val 0"/>
                <a:gd name="adj2" fmla="val 5000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D7A097-D0E6-F353-579E-69E5BE7C5A50}"/>
                </a:ext>
              </a:extLst>
            </p:cNvPr>
            <p:cNvSpPr txBox="1"/>
            <p:nvPr/>
          </p:nvSpPr>
          <p:spPr>
            <a:xfrm>
              <a:off x="6542879" y="2391740"/>
              <a:ext cx="2770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egoe Condensed" panose="020B0606040200020203" pitchFamily="34" charset="0"/>
                </a:rPr>
                <a:t>+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E836052-B274-2885-E011-96AC52CE8F17}"/>
                </a:ext>
              </a:extLst>
            </p:cNvPr>
            <p:cNvSpPr txBox="1"/>
            <p:nvPr/>
          </p:nvSpPr>
          <p:spPr>
            <a:xfrm>
              <a:off x="6562934" y="4753996"/>
              <a:ext cx="2770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egoe Condensed" panose="020B0606040200020203" pitchFamily="34" charset="0"/>
                </a:rPr>
                <a:t>-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83D037E-618A-2547-4EA6-7F36D6A01931}"/>
              </a:ext>
            </a:extLst>
          </p:cNvPr>
          <p:cNvGrpSpPr/>
          <p:nvPr/>
        </p:nvGrpSpPr>
        <p:grpSpPr>
          <a:xfrm>
            <a:off x="3668951" y="2931246"/>
            <a:ext cx="833507" cy="705210"/>
            <a:chOff x="5691677" y="2780046"/>
            <a:chExt cx="833507" cy="95507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8BCDD82-74F4-04BF-653E-7C5FCF975986}"/>
                    </a:ext>
                  </a:extLst>
                </p:cNvPr>
                <p:cNvSpPr txBox="1"/>
                <p:nvPr/>
              </p:nvSpPr>
              <p:spPr>
                <a:xfrm>
                  <a:off x="5912196" y="3273498"/>
                  <a:ext cx="6129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𝑹</m:t>
                            </m:r>
                          </m:sub>
                        </m:sSub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oMath>
                    </m:oMathPara>
                  </a14:m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+mn-ea"/>
                    <a:cs typeface="Segoe UI Ligh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8BCDD82-74F4-04BF-653E-7C5FCF975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196" y="3273498"/>
                  <a:ext cx="612988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4950" r="-3960" b="-5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BE29B9E-42DA-D030-E1AA-CFEC05281B25}"/>
                </a:ext>
              </a:extLst>
            </p:cNvPr>
            <p:cNvGrpSpPr/>
            <p:nvPr/>
          </p:nvGrpSpPr>
          <p:grpSpPr>
            <a:xfrm>
              <a:off x="5691677" y="2780046"/>
              <a:ext cx="293072" cy="955073"/>
              <a:chOff x="6542879" y="1785474"/>
              <a:chExt cx="293072" cy="3089822"/>
            </a:xfrm>
          </p:grpSpPr>
          <p:sp>
            <p:nvSpPr>
              <p:cNvPr id="39" name="Right Brace 38">
                <a:extLst>
                  <a:ext uri="{FF2B5EF4-FFF2-40B4-BE49-F238E27FC236}">
                    <a16:creationId xmlns:a16="http://schemas.microsoft.com/office/drawing/2014/main" id="{B93B4A3C-2637-C34C-BC3E-20494F6C45D5}"/>
                  </a:ext>
                </a:extLst>
              </p:cNvPr>
              <p:cNvSpPr/>
              <p:nvPr/>
            </p:nvSpPr>
            <p:spPr>
              <a:xfrm>
                <a:off x="6647542" y="2616200"/>
                <a:ext cx="107812" cy="2224322"/>
              </a:xfrm>
              <a:prstGeom prst="rightBrace">
                <a:avLst>
                  <a:gd name="adj1" fmla="val 0"/>
                  <a:gd name="adj2" fmla="val 5000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1686D4-00A5-C026-B06D-0B8D604C806B}"/>
                  </a:ext>
                </a:extLst>
              </p:cNvPr>
              <p:cNvSpPr txBox="1"/>
              <p:nvPr/>
            </p:nvSpPr>
            <p:spPr>
              <a:xfrm>
                <a:off x="6542879" y="1785474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+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2F32DCC-5CCE-65E1-CD0B-F85B83E0FDE0}"/>
                  </a:ext>
                </a:extLst>
              </p:cNvPr>
              <p:cNvSpPr txBox="1"/>
              <p:nvPr/>
            </p:nvSpPr>
            <p:spPr>
              <a:xfrm>
                <a:off x="6558923" y="4598298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-</a:t>
                </a:r>
              </a:p>
            </p:txBody>
          </p: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899E0048-F4DE-303E-2526-645B0C17BAE5}"/>
              </a:ext>
            </a:extLst>
          </p:cNvPr>
          <p:cNvSpPr/>
          <p:nvPr/>
        </p:nvSpPr>
        <p:spPr>
          <a:xfrm>
            <a:off x="3638282" y="4041557"/>
            <a:ext cx="291614" cy="121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E8D6DB-CFCE-0776-B484-4EFD779911FD}"/>
              </a:ext>
            </a:extLst>
          </p:cNvPr>
          <p:cNvGrpSpPr/>
          <p:nvPr/>
        </p:nvGrpSpPr>
        <p:grpSpPr>
          <a:xfrm>
            <a:off x="3668951" y="3700446"/>
            <a:ext cx="857553" cy="647359"/>
            <a:chOff x="5700801" y="3680334"/>
            <a:chExt cx="857553" cy="9686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8FB018-DC99-4981-4667-0CB3033E54C4}"/>
                    </a:ext>
                  </a:extLst>
                </p:cNvPr>
                <p:cNvSpPr txBox="1"/>
                <p:nvPr/>
              </p:nvSpPr>
              <p:spPr>
                <a:xfrm>
                  <a:off x="5921320" y="4187373"/>
                  <a:ext cx="63703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𝑫</m:t>
                            </m:r>
                          </m:sub>
                        </m:sSub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oMath>
                    </m:oMathPara>
                  </a14:m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+mn-ea"/>
                    <a:cs typeface="Segoe UI Ligh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8FB018-DC99-4981-4667-0CB3033E5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320" y="4187373"/>
                  <a:ext cx="637034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3810" r="-2857" b="-7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2F3C29-DB06-66BE-3FF6-F31ABD543953}"/>
                </a:ext>
              </a:extLst>
            </p:cNvPr>
            <p:cNvGrpSpPr/>
            <p:nvPr/>
          </p:nvGrpSpPr>
          <p:grpSpPr>
            <a:xfrm>
              <a:off x="5700801" y="3680334"/>
              <a:ext cx="293072" cy="968664"/>
              <a:chOff x="6542879" y="1741506"/>
              <a:chExt cx="293072" cy="3133790"/>
            </a:xfrm>
          </p:grpSpPr>
          <p:sp>
            <p:nvSpPr>
              <p:cNvPr id="45" name="Right Brace 44">
                <a:extLst>
                  <a:ext uri="{FF2B5EF4-FFF2-40B4-BE49-F238E27FC236}">
                    <a16:creationId xmlns:a16="http://schemas.microsoft.com/office/drawing/2014/main" id="{9F92CB74-F16A-BB1C-0EA2-24E427E8C465}"/>
                  </a:ext>
                </a:extLst>
              </p:cNvPr>
              <p:cNvSpPr/>
              <p:nvPr/>
            </p:nvSpPr>
            <p:spPr>
              <a:xfrm>
                <a:off x="6647542" y="2616200"/>
                <a:ext cx="107812" cy="2224322"/>
              </a:xfrm>
              <a:prstGeom prst="rightBrace">
                <a:avLst>
                  <a:gd name="adj1" fmla="val 0"/>
                  <a:gd name="adj2" fmla="val 5000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BEE3357-6F92-7970-A833-A734D18522AA}"/>
                  </a:ext>
                </a:extLst>
              </p:cNvPr>
              <p:cNvSpPr txBox="1"/>
              <p:nvPr/>
            </p:nvSpPr>
            <p:spPr>
              <a:xfrm>
                <a:off x="6542879" y="1741506"/>
                <a:ext cx="277028" cy="27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+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5BE15A8-6C16-DD7B-2A4A-5E905757BCB9}"/>
                  </a:ext>
                </a:extLst>
              </p:cNvPr>
              <p:cNvSpPr txBox="1"/>
              <p:nvPr/>
            </p:nvSpPr>
            <p:spPr>
              <a:xfrm>
                <a:off x="6558923" y="4598298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-</a:t>
                </a:r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E1369E4-6B2F-FAE0-541E-3DFED1F8176C}"/>
              </a:ext>
            </a:extLst>
          </p:cNvPr>
          <p:cNvSpPr txBox="1"/>
          <p:nvPr/>
        </p:nvSpPr>
        <p:spPr>
          <a:xfrm>
            <a:off x="1476550" y="2267290"/>
            <a:ext cx="4077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Condensed" panose="020B0606040200020203" pitchFamily="34" charset="0"/>
              </a:rPr>
              <a:t>5V Circuit Diagram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556F55D-138E-701C-E977-FE37F64EF4CD}"/>
                  </a:ext>
                </a:extLst>
              </p:cNvPr>
              <p:cNvSpPr txBox="1"/>
              <p:nvPr/>
            </p:nvSpPr>
            <p:spPr>
              <a:xfrm>
                <a:off x="9458063" y="5207205"/>
                <a:ext cx="4051622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𝐼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= 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→ 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220 </m:t>
                        </m:r>
                        <m:r>
                          <m:rPr>
                            <m:sty m:val="p"/>
                          </m:rPr>
                          <a:rPr kumimoji="0" lang="el-G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5.9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𝑚𝐴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556F55D-138E-701C-E977-FE37F64E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063" y="5207205"/>
                <a:ext cx="4051622" cy="6122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F739D8-5DE2-AD78-92E2-0842B575A3E7}"/>
                  </a:ext>
                </a:extLst>
              </p:cNvPr>
              <p:cNvSpPr txBox="1"/>
              <p:nvPr/>
            </p:nvSpPr>
            <p:spPr>
              <a:xfrm>
                <a:off x="12749579" y="3642602"/>
                <a:ext cx="8358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𝑽</m:t>
                          </m:r>
                        </m:e>
                        <m:sub>
                          <m: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sub>
                      </m:sSub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3.3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F739D8-5DE2-AD78-92E2-0842B575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9579" y="3642602"/>
                <a:ext cx="835870" cy="215444"/>
              </a:xfrm>
              <a:prstGeom prst="rect">
                <a:avLst/>
              </a:prstGeom>
              <a:blipFill>
                <a:blip r:embed="rId11"/>
                <a:stretch>
                  <a:fillRect l="-3623" r="-217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A0686CA-7499-EB0A-E614-0C5ECDAF15B7}"/>
              </a:ext>
            </a:extLst>
          </p:cNvPr>
          <p:cNvGrpSpPr/>
          <p:nvPr/>
        </p:nvGrpSpPr>
        <p:grpSpPr>
          <a:xfrm>
            <a:off x="12501667" y="2418665"/>
            <a:ext cx="297083" cy="2639255"/>
            <a:chOff x="6542879" y="2391740"/>
            <a:chExt cx="297083" cy="2639255"/>
          </a:xfrm>
        </p:grpSpPr>
        <p:sp>
          <p:nvSpPr>
            <p:cNvPr id="58" name="Right Brace 57">
              <a:extLst>
                <a:ext uri="{FF2B5EF4-FFF2-40B4-BE49-F238E27FC236}">
                  <a16:creationId xmlns:a16="http://schemas.microsoft.com/office/drawing/2014/main" id="{2CA8E2D5-70C2-E1E4-183E-2003EA02F435}"/>
                </a:ext>
              </a:extLst>
            </p:cNvPr>
            <p:cNvSpPr/>
            <p:nvPr/>
          </p:nvSpPr>
          <p:spPr>
            <a:xfrm>
              <a:off x="6647542" y="2616200"/>
              <a:ext cx="107812" cy="2224322"/>
            </a:xfrm>
            <a:prstGeom prst="rightBrace">
              <a:avLst>
                <a:gd name="adj1" fmla="val 0"/>
                <a:gd name="adj2" fmla="val 5000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8560CF7-CBC3-7948-8EA3-81F3FA3824F2}"/>
                </a:ext>
              </a:extLst>
            </p:cNvPr>
            <p:cNvSpPr txBox="1"/>
            <p:nvPr/>
          </p:nvSpPr>
          <p:spPr>
            <a:xfrm>
              <a:off x="6542879" y="2391740"/>
              <a:ext cx="2770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egoe Condensed" panose="020B0606040200020203" pitchFamily="34" charset="0"/>
                </a:rPr>
                <a:t>+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B8D062-BA7C-BD65-5C9D-66710F162292}"/>
                </a:ext>
              </a:extLst>
            </p:cNvPr>
            <p:cNvSpPr txBox="1"/>
            <p:nvPr/>
          </p:nvSpPr>
          <p:spPr>
            <a:xfrm>
              <a:off x="6562934" y="4753996"/>
              <a:ext cx="2770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Segoe Condensed" panose="020B0606040200020203" pitchFamily="34" charset="0"/>
                </a:rPr>
                <a:t>-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821D2D3F-D947-387A-4F37-959057BF0B82}"/>
              </a:ext>
            </a:extLst>
          </p:cNvPr>
          <p:cNvSpPr/>
          <p:nvPr/>
        </p:nvSpPr>
        <p:spPr>
          <a:xfrm>
            <a:off x="11638846" y="4068482"/>
            <a:ext cx="291614" cy="121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C1FC64-D08C-4AC1-13A1-3AB3EE256CC6}"/>
              </a:ext>
            </a:extLst>
          </p:cNvPr>
          <p:cNvSpPr txBox="1"/>
          <p:nvPr/>
        </p:nvSpPr>
        <p:spPr>
          <a:xfrm>
            <a:off x="9458064" y="2294215"/>
            <a:ext cx="4077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Condensed" panose="020B0606040200020203" pitchFamily="34" charset="0"/>
              </a:rPr>
              <a:t>3.3V Circuit Diagram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86DB45A-0098-30CD-D64E-3D5968AE157A}"/>
              </a:ext>
            </a:extLst>
          </p:cNvPr>
          <p:cNvGrpSpPr/>
          <p:nvPr/>
        </p:nvGrpSpPr>
        <p:grpSpPr>
          <a:xfrm>
            <a:off x="11610722" y="2925574"/>
            <a:ext cx="950527" cy="705210"/>
            <a:chOff x="5691677" y="2780046"/>
            <a:chExt cx="950527" cy="95507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C3EF9E-1048-F3F7-6941-526EC0C71BFD}"/>
                    </a:ext>
                  </a:extLst>
                </p:cNvPr>
                <p:cNvSpPr txBox="1"/>
                <p:nvPr/>
              </p:nvSpPr>
              <p:spPr>
                <a:xfrm>
                  <a:off x="5912196" y="3273498"/>
                  <a:ext cx="730008" cy="2500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𝑹</m:t>
                            </m:r>
                          </m:sub>
                        </m:sSub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1.3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oMath>
                    </m:oMathPara>
                  </a14:m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+mn-ea"/>
                    <a:cs typeface="Segoe UI Ligh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C3EF9E-1048-F3F7-6941-526EC0C71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196" y="3273498"/>
                  <a:ext cx="730008" cy="250095"/>
                </a:xfrm>
                <a:prstGeom prst="rect">
                  <a:avLst/>
                </a:prstGeom>
                <a:blipFill>
                  <a:blip r:embed="rId12"/>
                  <a:stretch>
                    <a:fillRect l="-4167" r="-3333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E92E8ED7-825F-DBE9-A82F-37E6C78E88E0}"/>
                </a:ext>
              </a:extLst>
            </p:cNvPr>
            <p:cNvGrpSpPr/>
            <p:nvPr/>
          </p:nvGrpSpPr>
          <p:grpSpPr>
            <a:xfrm>
              <a:off x="5691677" y="2780046"/>
              <a:ext cx="293072" cy="955073"/>
              <a:chOff x="6542879" y="1785474"/>
              <a:chExt cx="293072" cy="3089822"/>
            </a:xfrm>
          </p:grpSpPr>
          <p:sp>
            <p:nvSpPr>
              <p:cNvPr id="92" name="Right Brace 91">
                <a:extLst>
                  <a:ext uri="{FF2B5EF4-FFF2-40B4-BE49-F238E27FC236}">
                    <a16:creationId xmlns:a16="http://schemas.microsoft.com/office/drawing/2014/main" id="{E82C1977-92A7-92AD-4A99-C059BDD3C102}"/>
                  </a:ext>
                </a:extLst>
              </p:cNvPr>
              <p:cNvSpPr/>
              <p:nvPr/>
            </p:nvSpPr>
            <p:spPr>
              <a:xfrm>
                <a:off x="6647542" y="2616200"/>
                <a:ext cx="107812" cy="2224322"/>
              </a:xfrm>
              <a:prstGeom prst="rightBrace">
                <a:avLst>
                  <a:gd name="adj1" fmla="val 0"/>
                  <a:gd name="adj2" fmla="val 5000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44B71C1-5F8F-D391-4A18-EA8D3CA5BF28}"/>
                  </a:ext>
                </a:extLst>
              </p:cNvPr>
              <p:cNvSpPr txBox="1"/>
              <p:nvPr/>
            </p:nvSpPr>
            <p:spPr>
              <a:xfrm>
                <a:off x="6542879" y="1785474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+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7452317-5EB8-6681-9D63-3A7D3597B509}"/>
                  </a:ext>
                </a:extLst>
              </p:cNvPr>
              <p:cNvSpPr txBox="1"/>
              <p:nvPr/>
            </p:nvSpPr>
            <p:spPr>
              <a:xfrm>
                <a:off x="6558923" y="4598298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-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1B3DB73-5A74-1858-7505-7E93A880E225}"/>
              </a:ext>
            </a:extLst>
          </p:cNvPr>
          <p:cNvSpPr txBox="1"/>
          <p:nvPr/>
        </p:nvSpPr>
        <p:spPr>
          <a:xfrm>
            <a:off x="3098800" y="1208320"/>
            <a:ext cx="599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Bebas Neue" panose="020B0606020202050201" pitchFamily="34" charset="0"/>
              </a:rPr>
              <a:t>5V vs. 3.3V Output Pin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57D96D6-B7FA-B364-26C7-6797299B095A}"/>
              </a:ext>
            </a:extLst>
          </p:cNvPr>
          <p:cNvSpPr/>
          <p:nvPr/>
        </p:nvSpPr>
        <p:spPr>
          <a:xfrm>
            <a:off x="11605830" y="4086625"/>
            <a:ext cx="291614" cy="121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1B837D1-23F3-F417-452A-4085CFC58F34}"/>
              </a:ext>
            </a:extLst>
          </p:cNvPr>
          <p:cNvGrpSpPr/>
          <p:nvPr/>
        </p:nvGrpSpPr>
        <p:grpSpPr>
          <a:xfrm>
            <a:off x="11610722" y="3694774"/>
            <a:ext cx="857553" cy="647359"/>
            <a:chOff x="5700801" y="3680334"/>
            <a:chExt cx="857553" cy="96866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68B48BF-55BB-F78D-8D4E-5227F0D7C27F}"/>
                </a:ext>
              </a:extLst>
            </p:cNvPr>
            <p:cNvGrpSpPr/>
            <p:nvPr/>
          </p:nvGrpSpPr>
          <p:grpSpPr>
            <a:xfrm>
              <a:off x="5700801" y="3680334"/>
              <a:ext cx="293072" cy="968664"/>
              <a:chOff x="6542879" y="1741506"/>
              <a:chExt cx="293072" cy="3133790"/>
            </a:xfrm>
          </p:grpSpPr>
          <p:sp>
            <p:nvSpPr>
              <p:cNvPr id="98" name="Right Brace 97">
                <a:extLst>
                  <a:ext uri="{FF2B5EF4-FFF2-40B4-BE49-F238E27FC236}">
                    <a16:creationId xmlns:a16="http://schemas.microsoft.com/office/drawing/2014/main" id="{36D9E8DE-B97B-CE84-C69B-88610A443CA3}"/>
                  </a:ext>
                </a:extLst>
              </p:cNvPr>
              <p:cNvSpPr/>
              <p:nvPr/>
            </p:nvSpPr>
            <p:spPr>
              <a:xfrm>
                <a:off x="6647542" y="2616200"/>
                <a:ext cx="107812" cy="2224322"/>
              </a:xfrm>
              <a:prstGeom prst="rightBrace">
                <a:avLst>
                  <a:gd name="adj1" fmla="val 0"/>
                  <a:gd name="adj2" fmla="val 5000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5B66D65-2042-E8BE-0EAB-1979BDC1850D}"/>
                  </a:ext>
                </a:extLst>
              </p:cNvPr>
              <p:cNvSpPr txBox="1"/>
              <p:nvPr/>
            </p:nvSpPr>
            <p:spPr>
              <a:xfrm>
                <a:off x="6542879" y="1741506"/>
                <a:ext cx="277028" cy="27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+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8BE6325-9A13-4653-F333-EE8E416C5F4F}"/>
                  </a:ext>
                </a:extLst>
              </p:cNvPr>
              <p:cNvSpPr txBox="1"/>
              <p:nvPr/>
            </p:nvSpPr>
            <p:spPr>
              <a:xfrm>
                <a:off x="6558923" y="4598298"/>
                <a:ext cx="277028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Condensed" panose="020B0606040200020203" pitchFamily="34" charset="0"/>
                  </a:rPr>
                  <a:t>-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99A0666-7628-C5D3-CA82-1EFF238FA89A}"/>
                    </a:ext>
                  </a:extLst>
                </p:cNvPr>
                <p:cNvSpPr txBox="1"/>
                <p:nvPr/>
              </p:nvSpPr>
              <p:spPr>
                <a:xfrm>
                  <a:off x="5921320" y="4187373"/>
                  <a:ext cx="63703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en-US" sz="1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𝑫</m:t>
                            </m:r>
                          </m:sub>
                        </m:sSub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  <m:r>
                          <a:rPr kumimoji="0" 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oMath>
                    </m:oMathPara>
                  </a14:m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 Light" panose="020B0502040204020203" pitchFamily="34" charset="0"/>
                    <a:ea typeface="+mn-ea"/>
                    <a:cs typeface="Segoe UI Ligh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99A0666-7628-C5D3-CA82-1EFF238FA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320" y="4187373"/>
                  <a:ext cx="637034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3846" r="-3846" b="-7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897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92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Bebas Neue</vt:lpstr>
      <vt:lpstr>Cambria Math</vt:lpstr>
      <vt:lpstr>Segoe Condensed</vt:lpstr>
      <vt:lpstr>Segoe UI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1</cp:revision>
  <dcterms:created xsi:type="dcterms:W3CDTF">2026-04-01T23:35:56Z</dcterms:created>
  <dcterms:modified xsi:type="dcterms:W3CDTF">2026-04-02T00:52:09Z</dcterms:modified>
</cp:coreProperties>
</file>